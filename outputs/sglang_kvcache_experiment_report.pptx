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62fa1094744dd7" /><Relationship Type="http://schemas.openxmlformats.org/officeDocument/2006/relationships/extended-properties" Target="/docProps/app.xml" Id="R4467ab7e125d4bf8" /><Relationship Type="http://schemas.openxmlformats.org/officeDocument/2006/relationships/officeDocument" Target="/ppt/presentation.xml" Id="R24fafe33926f4a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1ab4450524436a"/>
  </p:sldMasterIdLst>
  <p:notesMasterIdLst>
    <p:notesMasterId xmlns:r="http://schemas.openxmlformats.org/officeDocument/2006/relationships" r:id="R85cc4d84f2574e16"/>
  </p:notesMasterIdLst>
  <p:sldIdLst>
    <p:sldId xmlns:r="http://schemas.openxmlformats.org/officeDocument/2006/relationships" id="256" r:id="Rcf1a1dc6a5ad4f9f"/>
    <p:sldId xmlns:r="http://schemas.openxmlformats.org/officeDocument/2006/relationships" id="257" r:id="Rcb090182461d4372"/>
    <p:sldId xmlns:r="http://schemas.openxmlformats.org/officeDocument/2006/relationships" id="258" r:id="R66f1005a0a694f3f"/>
    <p:sldId xmlns:r="http://schemas.openxmlformats.org/officeDocument/2006/relationships" id="259" r:id="R698104ca057f4afa"/>
    <p:sldId xmlns:r="http://schemas.openxmlformats.org/officeDocument/2006/relationships" id="260" r:id="Rb3627e72f38f4e46"/>
    <p:sldId xmlns:r="http://schemas.openxmlformats.org/officeDocument/2006/relationships" id="261" r:id="R5c91dc219d0649a9"/>
    <p:sldId xmlns:r="http://schemas.openxmlformats.org/officeDocument/2006/relationships" id="262" r:id="R0404921cbc2a4e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4ed778760242e3" /><Relationship Type="http://schemas.openxmlformats.org/officeDocument/2006/relationships/slideMaster" Target="/ppt/slideMasters/slideMaster1.xml" Id="R0d1ab4450524436a" /><Relationship Type="http://schemas.openxmlformats.org/officeDocument/2006/relationships/notesMaster" Target="/ppt/notesMasters/notesMaster1.xml" Id="R85cc4d84f2574e16" /><Relationship Type="http://schemas.openxmlformats.org/officeDocument/2006/relationships/presProps" Target="/ppt/presProps.xml" Id="Re45db9c565f94251" /><Relationship Type="http://schemas.openxmlformats.org/officeDocument/2006/relationships/tableStyles" Target="/ppt/tableStyles.xml" Id="Rba44bdb61575439b" /><Relationship Type="http://schemas.openxmlformats.org/officeDocument/2006/relationships/slide" Target="/ppt/slides/slide1.xml" Id="Rcf1a1dc6a5ad4f9f" /><Relationship Type="http://schemas.openxmlformats.org/officeDocument/2006/relationships/slide" Target="/ppt/slides/slide2.xml" Id="Rcb090182461d4372" /><Relationship Type="http://schemas.openxmlformats.org/officeDocument/2006/relationships/slide" Target="/ppt/slides/slide3.xml" Id="R66f1005a0a694f3f" /><Relationship Type="http://schemas.openxmlformats.org/officeDocument/2006/relationships/slide" Target="/ppt/slides/slide4.xml" Id="R698104ca057f4afa" /><Relationship Type="http://schemas.openxmlformats.org/officeDocument/2006/relationships/slide" Target="/ppt/slides/slide5.xml" Id="Rb3627e72f38f4e46" /><Relationship Type="http://schemas.openxmlformats.org/officeDocument/2006/relationships/slide" Target="/ppt/slides/slide6.xml" Id="R5c91dc219d0649a9" /><Relationship Type="http://schemas.openxmlformats.org/officeDocument/2006/relationships/slide" Target="/ppt/slides/slide7.xml" Id="R0404921cbc2a4e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b8cbb991114b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23041a9793483d" /><Relationship Type="http://schemas.openxmlformats.org/officeDocument/2006/relationships/notesMaster" Target="/ppt/notesMasters/notesMaster1.xml" Id="Rb26cf0d532524b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d0a3b22f374b57" /><Relationship Type="http://schemas.openxmlformats.org/officeDocument/2006/relationships/notesMaster" Target="/ppt/notesMasters/notesMaster1.xml" Id="R2628f04dffe44f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c2a0e039404309" /><Relationship Type="http://schemas.openxmlformats.org/officeDocument/2006/relationships/notesMaster" Target="/ppt/notesMasters/notesMaster1.xml" Id="Rc2c2134327ca4c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8624a553d64646" /><Relationship Type="http://schemas.openxmlformats.org/officeDocument/2006/relationships/notesMaster" Target="/ppt/notesMasters/notesMaster1.xml" Id="R70d8b62f7a1043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94e9e8351f4d19" /><Relationship Type="http://schemas.openxmlformats.org/officeDocument/2006/relationships/notesMaster" Target="/ppt/notesMasters/notesMaster1.xml" Id="R4574eb587a6d46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5ed512b3854b31" /><Relationship Type="http://schemas.openxmlformats.org/officeDocument/2006/relationships/notesMaster" Target="/ppt/notesMasters/notesMaster1.xml" Id="R77728abf869242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a1bed028054b74" /><Relationship Type="http://schemas.openxmlformats.org/officeDocument/2006/relationships/notesMaster" Target="/ppt/notesMasters/notesMaster1.xml" Id="R66516b124cfa47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a1f985a5f84d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0aff7e13414c0c" /><Relationship Type="http://schemas.openxmlformats.org/officeDocument/2006/relationships/slideLayout" Target="/ppt/slideLayouts/slideLayout1.xml" Id="Re8e33420eff244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e33420eff244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3024ef2dd4926" /><Relationship Type="http://schemas.openxmlformats.org/officeDocument/2006/relationships/notesSlide" Target="/ppt/notesSlides/notesSlide1.xml" Id="R60a0ce35d0cf4e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e8fad02044406" /><Relationship Type="http://schemas.openxmlformats.org/officeDocument/2006/relationships/notesSlide" Target="/ppt/notesSlides/notesSlide2.xml" Id="Rd60658aa8af347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a2d236c4548e8" /><Relationship Type="http://schemas.openxmlformats.org/officeDocument/2006/relationships/notesSlide" Target="/ppt/notesSlides/notesSlide3.xml" Id="R4f00bb80201742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280608ff64f56" /><Relationship Type="http://schemas.openxmlformats.org/officeDocument/2006/relationships/notesSlide" Target="/ppt/notesSlides/notesSlide4.xml" Id="Ra17effbe70ae46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5acf349cb4d81" /><Relationship Type="http://schemas.openxmlformats.org/officeDocument/2006/relationships/chart" Target="/ppt/slides/charts/chart1.xml" Id="R69afc963cd4f4728" /><Relationship Type="http://schemas.openxmlformats.org/officeDocument/2006/relationships/notesSlide" Target="/ppt/notesSlides/notesSlide5.xml" Id="Rd21ee12c24484e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e38708b004c31" /><Relationship Type="http://schemas.openxmlformats.org/officeDocument/2006/relationships/chart" Target="/ppt/slides/charts/chart2.xml" Id="Rc12bd8f2b32945aa" /><Relationship Type="http://schemas.openxmlformats.org/officeDocument/2006/relationships/chart" Target="/ppt/slides/charts/chart3.xml" Id="Rbaa5089d9e3949e6" /><Relationship Type="http://schemas.openxmlformats.org/officeDocument/2006/relationships/notesSlide" Target="/ppt/notesSlides/notesSlide6.xml" Id="Ra4a04fdc2c244c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32053f5124f21" /><Relationship Type="http://schemas.openxmlformats.org/officeDocument/2006/relationships/notesSlide" Target="/ppt/notesSlides/notesSlide7.xml" Id="R97274470590c491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Hit rate</c:v>
          </c:tx>
          <c:spPr>
            <a:solidFill xmlns:a="http://schemas.openxmlformats.org/drawingml/2006/main">
              <a:srgbClr val="111111"/>
            </a:solidFill>
          </c:spPr>
          <c:dLbls/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65.697</c:v>
              </c:pt>
              <c:pt idx="1">
                <c:v>5.088</c:v>
              </c:pt>
              <c:pt idx="2">
                <c:v>59.302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Global hit rate</c:v>
          </c:tx>
          <c:spPr>
            <a:solidFill xmlns:a="http://schemas.openxmlformats.org/drawingml/2006/main">
              <a:srgbClr val="1F77B4"/>
            </a:solidFill>
          </c:spPr>
          <c:dLbls/>
          <c:cat>
            <c:strLit>
              <c:ptCount val="4"/>
              <c:pt idx="0">
                <c:v>LRU</c:v>
              </c:pt>
              <c:pt idx="1">
                <c:v>2Q</c:v>
              </c:pt>
              <c:pt idx="2">
                <c:v>SLRU</c:v>
              </c:pt>
              <c:pt idx="3">
                <c:v>LFU</c:v>
              </c:pt>
            </c:strLit>
          </c:cat>
          <c:val>
            <c:numLit>
              <c:formatCode>General</c:formatCode>
              <c:ptCount val="4"/>
              <c:pt idx="0">
                <c:v>22.205</c:v>
              </c:pt>
              <c:pt idx="1">
                <c:v>22.296</c:v>
              </c:pt>
              <c:pt idx="2">
                <c:v>22.296</c:v>
              </c:pt>
              <c:pt idx="3">
                <c:v>27.971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Scan后hot回访 hit rate</c:v>
          </c:tx>
          <c:spPr>
            <a:solidFill xmlns:a="http://schemas.openxmlformats.org/drawingml/2006/main">
              <a:srgbClr val="FF6B35"/>
            </a:solidFill>
          </c:spPr>
          <c:dLbls/>
          <c:cat>
            <c:strLit>
              <c:ptCount val="4"/>
              <c:pt idx="0">
                <c:v>LRU</c:v>
              </c:pt>
              <c:pt idx="1">
                <c:v>2Q</c:v>
              </c:pt>
              <c:pt idx="2">
                <c:v>SLRU</c:v>
              </c:pt>
              <c:pt idx="3">
                <c:v>LFU</c:v>
              </c:pt>
            </c:strLit>
          </c:cat>
          <c:val>
            <c:numLit>
              <c:formatCode>General</c:formatCode>
              <c:ptCount val="4"/>
              <c:pt idx="0">
                <c:v>45.191</c:v>
              </c:pt>
              <c:pt idx="1">
                <c:v>45.403</c:v>
              </c:pt>
              <c:pt idx="2">
                <c:v>45.403</c:v>
              </c:pt>
              <c:pt idx="3">
                <c:v>58.696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59828-40F0-44F4-A7D8-FCA14720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SGLang KV Cache 淘汰策略实验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77CA6-5443-4F75-A954-8A16315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62200"/>
            <a:ext cx="809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在真实 Qwen2.5-7B 服务上接入 2Q，并评估它对扫描污染的保护效果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39379-6194-4E4D-ADFE-5BFEB063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46A89-4978-472B-988E-319A783F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785B7-8712-4F4E-855A-E7561590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B1885-785A-40A6-801F-9B1EB675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真实服务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46BF62-9126-4113-9751-F38AAC2D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SGLang 0.5.14</a:t>
            </a:r>
          </a:p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Qwen2.5-7B-Instruct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06D16-330D-430F-AC93-21AE56F9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0481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策略对比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777B5-4E4C-4CC9-8807-C5BA57CB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2912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LRU / SLRU / 2Q</a:t>
            </a:r>
          </a:p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补充 LFU 观察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16F89-4BC9-426B-BBBC-FFB07526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481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关键发现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591E68-A5FB-4EE0-923A-23B27BFF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2912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2Q≈SLRU，略优于 LRU</a:t>
            </a:r>
          </a:p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LFU 在稳定热点下最好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D22E9D-5DEC-453D-97E7-575C010A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1</a:t>
            </a:r>
          </a:p>
        </p:txBody>
      </p:sp>
    </p:spTree>
    <p:extLst>
      <p:ext uri="{BB962C8B-B14F-4D97-AF65-F5344CB8AC3E}">
        <p14:creationId xmlns:p14="http://schemas.microsoft.com/office/powerpoint/2010/main" val="2406055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9264A5-E64F-4A88-A052-43A2FB6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实验关注的是 KV cache 被挤满时，谁应该被淘汰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DFA7EC-9813-409A-985B-33A2D186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7602D-7F88-4BA0-BD3B-EEFE95DE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4EDBF-72F5-4F58-AE0C-92D22D6E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请求前缀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A7A61-5C13-4B9C-B69B-A103B625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24125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多个 prompt 共享相同开头，命中后可跳过重复 prefill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D697D-481A-4FD3-AFA5-A34FEFD9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38375"/>
            <a:ext cx="38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35"/>
                </a:solidFill>
              </a:defRPr>
            </a:pPr>
            <a:r>
              <a:rPr sz="2850" b="1">
                <a:solidFill>
                  <a:srgbClr val="FF6B35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F078A-2CA0-48A6-9281-93DFCB1F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48A5B-8FB1-4BC5-8FE5-82061337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RadixCache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5D6B6-7EBB-4D2F-BEE1-F6CBB9EE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24125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SGLang 用前缀树组织 KV cache 节点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44303-C91C-4C13-A7C6-D0059DD5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38375"/>
            <a:ext cx="38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35"/>
                </a:solidFill>
              </a:defRPr>
            </a:pPr>
            <a:r>
              <a:rPr sz="2850" b="1">
                <a:solidFill>
                  <a:srgbClr val="FF6B3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BC250-AF86-44FE-9B9F-71AA0279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0EBD07-F9D5-42C0-91BC-6BFAABA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574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淘汰策略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D6C7C2-F129-4422-BCBC-01C42B5A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24125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缓存预算不足时，决定保留热点还是丢弃一次性内容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751B5-E9A6-47C4-99EC-3925C3A3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4762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E"/>
          </a:solidFill>
          <a:ln xmlns:a="http://schemas.openxmlformats.org/drawingml/2006/main" w="9525">
            <a:solidFill>
              <a:srgbClr val="FFF3E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9A61B6-65A4-49A7-A869-A581CE52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2Q 的想法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45815E-020B-415F-954C-D45F0873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2440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新节点先进入 A1in 试用队列；被再次命中的节点进入 Am 保护队列；被淘汰的 A1in 节点留下 A1out ghost 记录。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219DA8-E22C-41A7-8533-BBD1019E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95750"/>
            <a:ext cx="4762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0EC473-6B4E-4DA6-A492-02D345DF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243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预期优势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8380A7-3A04-42ED-80ED-3A5F5DD5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2440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一次性长文档 scan 不应冲掉已经复用过的热点前缀；真正的优势应出现在 scan 后热点回访。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CB3903-30E5-463A-85C8-6A108818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2</a:t>
            </a:r>
          </a:p>
        </p:txBody>
      </p:sp>
    </p:spTree>
    <p:extLst>
      <p:ext uri="{BB962C8B-B14F-4D97-AF65-F5344CB8AC3E}">
        <p14:creationId xmlns:p14="http://schemas.microsoft.com/office/powerpoint/2010/main" val="588986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136718-30C4-4FEF-9B4E-CE5503F8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实验从离线模拟推进到真实 GPU 服务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05ADF-0F02-4AA3-A0A4-458720EB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2190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49EB4-62A9-4D3A-B2DB-CD27C15B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A1-A4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1AFCA-90BA-42FC-B787-399E8592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阅读 SGLang RadixCache，设计 2Q 接入点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54E0E-6FD3-47D7-BAC4-88BEA4D1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24000"/>
            <a:ext cx="2190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DC99F-82F7-4216-945C-2D14B4EA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752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A5-A7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262877-8F27-4E8C-9D25-83CE7F6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383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构造 W1-W4 trace，完成 CPU/mock 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0F80D-0582-4D1D-A9CA-5510A805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24000"/>
            <a:ext cx="2190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E"/>
          </a:solidFill>
          <a:ln xmlns:a="http://schemas.openxmlformats.org/drawingml/2006/main" w="9525">
            <a:solidFill>
              <a:srgbClr val="FFF3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31CBFF-97B1-4549-8F38-A31977EF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52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GPU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8E147-E13C-4EBC-9262-63EB22F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在 RTX 3090 上 patch SGLang 并启动真实模型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849CB-16CB-481D-AE3B-3458F831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24000"/>
            <a:ext cx="2190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3AD72E-6AD0-4FF0-92F9-61401803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52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分析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09F7C-9B35-4A60-88FA-9E8F265A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383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比较全局命中率与 scan 后热点回访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B041EB-75A0-4844-ADCB-CD560F49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四类 workload 的作用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225C2-75A5-49A0-A47D-4329204F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W1  few-shot 前缀复用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0E99BD-8C9F-4B6B-B061-9EF5708F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91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W2  多轮对话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EA67D-7263-406C-BF66-3FE2E381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W3  Zipf 热点租户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42EB5-4682-4D2C-9FD6-7BED03D6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W4  扫描污染与热点保护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FCF49A-E1C3-4DAF-8E75-B62D749B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10000"/>
            <a:ext cx="4762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6F81B3-B80E-4732-B9C6-98253299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481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最终重点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FAABE-2B8F-4D62-AC16-D2C9C54C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W1-W3 用来验证链路与基线；真正检验 2Q 的是 W4 pressure：hot → scan → hot 回访。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5B732E-0B5A-4B10-BDC5-7D1045A5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3</a:t>
            </a:r>
          </a:p>
        </p:txBody>
      </p:sp>
    </p:spTree>
    <p:extLst>
      <p:ext uri="{BB962C8B-B14F-4D97-AF65-F5344CB8AC3E}">
        <p14:creationId xmlns:p14="http://schemas.microsoft.com/office/powerpoint/2010/main" val="13721528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D2BBB4-56DB-41D9-9758-C42EE88D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工程工作不只是跑实验，还包括让 SGLang 真正接受 2Q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35C1DB-68A7-47C9-A6AC-B429121F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1FBC1-3B87-427D-88E5-5B378242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28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源码修改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B9672-BBD6-4219-9672-66E37CB7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5732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新增 TwoQStrategy，并在 RadixCache 插入、命中、拆分、淘汰路径调用状态迁移。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1DDFA-042D-43F5-9964-5ECE20F2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586F5-E130-4B9B-8141-4CD46314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FB121-08BF-46E4-B9A9-9F211F28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2887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CLI 注册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A19EB-8BAC-433E-B1A0-5333D0B5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57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扩展 server_args.py，让 --radix-eviction-policy 2q 可以启动真实服务。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8490C9-D731-4F50-9569-A7EE1323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296DC-1191-44D2-9838-D722C731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9A42CF-9FBA-42AA-A0AC-7AE6B361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29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GPU 环境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36C36-45CB-4D67-9E67-99DB806C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575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解决 CUDA 版本、sglang-kernel、模型下载、可复现实验脚本等环境问题。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20745-286D-447C-B118-B08768E4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DA5F3C-C9F1-4336-B65B-C2BAFB03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5BB48F-1880-4C26-A509-D878D758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29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数据采集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8B92B2-800E-48D0-9C08-B75B94A2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解析 SGLang meta_info.cached_tokens，保存 summary 与 raw jsonl。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78C432-C22E-42D8-863D-58F9255C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015B59-900D-4BBB-9B87-9A8A45AE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4</a:t>
            </a:r>
          </a:p>
        </p:txBody>
      </p:sp>
    </p:spTree>
    <p:extLst>
      <p:ext uri="{BB962C8B-B14F-4D97-AF65-F5344CB8AC3E}">
        <p14:creationId xmlns:p14="http://schemas.microsoft.com/office/powerpoint/2010/main" val="18527355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F9A45-7567-41A7-BAF4-C997EFA7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W1-W3 证明链路正确，但没有拉开策略差距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afc963cd4f4728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820CD-283F-458C-8676-0FB124BB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4000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AAE2B-1967-4B14-BC38-9EB0EE4A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859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解读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F9A8B-34FA-4D64-977E-88B82545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三种策略在 W1-W3 的 cached_tokens 与 hit_rate 基本完全一致，说明这些场景更适合作为 sanity check。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C3560-6300-4918-B935-67F84F4F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要判断 2Q 是否有价值，必须看缓存被 scan 挤压后的热点回访。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93C241-8CF8-47FB-8565-07FC6307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注：图中 hit rate 三种策略相同，取 2Q/LRU/SLRU 共同值。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51E178-10C6-438E-989A-636039AF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5</a:t>
            </a:r>
          </a:p>
        </p:txBody>
      </p:sp>
    </p:spTree>
    <p:extLst>
      <p:ext uri="{BB962C8B-B14F-4D97-AF65-F5344CB8AC3E}">
        <p14:creationId xmlns:p14="http://schemas.microsoft.com/office/powerpoint/2010/main" val="20953396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F18EE1-286C-4AF3-92BF-B1AD6FA2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W4 pressure 中，2Q 与 SLRU 持平，LFU 在稳定热点下更强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66750" y="1428750"/>
          <a:ext xmlns:a="http://schemas.openxmlformats.org/drawingml/2006/main" cx="4953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2bd8f2b32945aa"/>
          </a:graphicData>
        </a:graphic>
      </p:graphicFrame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286500" y="1428750"/>
          <a:ext xmlns:a="http://schemas.openxmlformats.org/drawingml/2006/main" cx="4953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a5089d9e3949e6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6E572-2FE5-4F9B-9774-26F94259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全局命中率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696BA-A8C3-450C-9A53-375085E5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625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scan 后 32 条热点回访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89401-F405-4C89-AB91-7CC33453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2Q 相比 LRU 有轻微提升，但并未超过 SLRU；LFU 因累计频率，在稳定热点反复访问场景中表现最好。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8A92F-0476-48D6-9DA6-24EE4630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6</a:t>
            </a:r>
          </a:p>
        </p:txBody>
      </p:sp>
    </p:spTree>
    <p:extLst>
      <p:ext uri="{BB962C8B-B14F-4D97-AF65-F5344CB8AC3E}">
        <p14:creationId xmlns:p14="http://schemas.microsoft.com/office/powerpoint/2010/main" val="19884796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FD8CB2-870D-475F-B105-CC59364B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结论是机制有效，但当前实现没有显著超过 SLRU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7DA6C-A4D2-4F1B-BE40-D48B16E8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952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DEA0B-935A-4869-BC9D-29E57B78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完成了什么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4D476-C1D8-49A6-9A81-A25DBA38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把 2Q 接入真实 SGLang，跑通 Qwen2.5-7B-Instruct 的 GPU 实验链路。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ECBA6-C08C-4CA1-A3EE-49323B88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619250"/>
            <a:ext cx="2952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E"/>
          </a:solidFill>
          <a:ln xmlns:a="http://schemas.openxmlformats.org/drawingml/2006/main" w="9525">
            <a:solidFill>
              <a:srgbClr val="FFF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0A1C7-AEBD-47EF-9991-F21C25BE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24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实验说明什么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49A95-27D2-4FCD-ABB2-37A97297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2Q 在扫描污染压力下略优于 LRU，并与 SLRU 持平；LFU 是稳定热点场景的强基线。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B9742-44D6-4339-BF09-FE87DEAB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619250"/>
            <a:ext cx="2952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F3F4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9067C-186B-4534-B5BF-314B2D14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24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下一步怎么改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06FF8-A111-4665-9712-281D046B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如果继续优化，应实现严格 A1in/A1out/Am 容量配额，并记录 ghost hit。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F0F9A-5B1F-45CE-865D-65C74F26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简历表述重点：不是“2Q 全面最优”，而是“完成真实系统接入、构建可复现实验、识别策略边界”。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23C49-1D46-4B68-A71D-74D350CB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KV Cache 2Q 实验 · 7</a:t>
            </a:r>
          </a:p>
        </p:txBody>
      </p:sp>
    </p:spTree>
    <p:extLst>
      <p:ext uri="{BB962C8B-B14F-4D97-AF65-F5344CB8AC3E}">
        <p14:creationId xmlns:p14="http://schemas.microsoft.com/office/powerpoint/2010/main" val="9561726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2026-07-10T05:29:17.1180000Z</dcterms:created>
  <dcterms:modified xsi:type="dcterms:W3CDTF">2026-07-10T05:29:17.1180000Z</dcterms:modified>
</coreProperties>
</file>