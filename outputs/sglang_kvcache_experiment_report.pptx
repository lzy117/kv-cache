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bf66415d024596" /><Relationship Type="http://schemas.openxmlformats.org/officeDocument/2006/relationships/extended-properties" Target="/docProps/app.xml" Id="R4ed368d53d74418f" /><Relationship Type="http://schemas.openxmlformats.org/officeDocument/2006/relationships/officeDocument" Target="/ppt/presentation.xml" Id="Rd6d83ab53e42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99b14a8dc74d0d"/>
  </p:sldMasterIdLst>
  <p:notesMasterIdLst>
    <p:notesMasterId xmlns:r="http://schemas.openxmlformats.org/officeDocument/2006/relationships" r:id="Rd4b91c354b554060"/>
  </p:notesMasterIdLst>
  <p:sldIdLst>
    <p:sldId xmlns:r="http://schemas.openxmlformats.org/officeDocument/2006/relationships" id="256" r:id="Rcd9d4497db534d1c"/>
    <p:sldId xmlns:r="http://schemas.openxmlformats.org/officeDocument/2006/relationships" id="257" r:id="R472258e98bf146e3"/>
    <p:sldId xmlns:r="http://schemas.openxmlformats.org/officeDocument/2006/relationships" id="258" r:id="R41d20494455f477b"/>
    <p:sldId xmlns:r="http://schemas.openxmlformats.org/officeDocument/2006/relationships" id="259" r:id="R2dcaefcd09194a68"/>
    <p:sldId xmlns:r="http://schemas.openxmlformats.org/officeDocument/2006/relationships" id="260" r:id="R2f4d4c90843f4f86"/>
    <p:sldId xmlns:r="http://schemas.openxmlformats.org/officeDocument/2006/relationships" id="261" r:id="R5ddd29ffedce494d"/>
    <p:sldId xmlns:r="http://schemas.openxmlformats.org/officeDocument/2006/relationships" id="262" r:id="Rff1be59377164051"/>
    <p:sldId xmlns:r="http://schemas.openxmlformats.org/officeDocument/2006/relationships" id="263" r:id="R45238cdcb6c6497e"/>
    <p:sldId xmlns:r="http://schemas.openxmlformats.org/officeDocument/2006/relationships" id="264" r:id="R1e23843a0f5e407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3740fd38c14c94" /><Relationship Type="http://schemas.openxmlformats.org/officeDocument/2006/relationships/slideMaster" Target="/ppt/slideMasters/slideMaster1.xml" Id="R6399b14a8dc74d0d" /><Relationship Type="http://schemas.openxmlformats.org/officeDocument/2006/relationships/notesMaster" Target="/ppt/notesMasters/notesMaster1.xml" Id="Rd4b91c354b554060" /><Relationship Type="http://schemas.openxmlformats.org/officeDocument/2006/relationships/presProps" Target="/ppt/presProps.xml" Id="Ra725efdcb9a746ef" /><Relationship Type="http://schemas.openxmlformats.org/officeDocument/2006/relationships/tableStyles" Target="/ppt/tableStyles.xml" Id="R8dfadc6c92d2455e" /><Relationship Type="http://schemas.openxmlformats.org/officeDocument/2006/relationships/slide" Target="/ppt/slides/slide1.xml" Id="Rcd9d4497db534d1c" /><Relationship Type="http://schemas.openxmlformats.org/officeDocument/2006/relationships/slide" Target="/ppt/slides/slide2.xml" Id="R472258e98bf146e3" /><Relationship Type="http://schemas.openxmlformats.org/officeDocument/2006/relationships/slide" Target="/ppt/slides/slide3.xml" Id="R41d20494455f477b" /><Relationship Type="http://schemas.openxmlformats.org/officeDocument/2006/relationships/slide" Target="/ppt/slides/slide4.xml" Id="R2dcaefcd09194a68" /><Relationship Type="http://schemas.openxmlformats.org/officeDocument/2006/relationships/slide" Target="/ppt/slides/slide5.xml" Id="R2f4d4c90843f4f86" /><Relationship Type="http://schemas.openxmlformats.org/officeDocument/2006/relationships/slide" Target="/ppt/slides/slide6.xml" Id="R5ddd29ffedce494d" /><Relationship Type="http://schemas.openxmlformats.org/officeDocument/2006/relationships/slide" Target="/ppt/slides/slide7.xml" Id="Rff1be59377164051" /><Relationship Type="http://schemas.openxmlformats.org/officeDocument/2006/relationships/slide" Target="/ppt/slides/slide8.xml" Id="R45238cdcb6c6497e" /><Relationship Type="http://schemas.openxmlformats.org/officeDocument/2006/relationships/slide" Target="/ppt/slides/slide9.xml" Id="R1e23843a0f5e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6079da1a824f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2781af153d4054" /><Relationship Type="http://schemas.openxmlformats.org/officeDocument/2006/relationships/notesMaster" Target="/ppt/notesMasters/notesMaster1.xml" Id="R443c3ae69f1a40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cec48b4b524556" /><Relationship Type="http://schemas.openxmlformats.org/officeDocument/2006/relationships/notesMaster" Target="/ppt/notesMasters/notesMaster1.xml" Id="Ra7d15803a3e74c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0c8c5e771147f5" /><Relationship Type="http://schemas.openxmlformats.org/officeDocument/2006/relationships/notesMaster" Target="/ppt/notesMasters/notesMaster1.xml" Id="R1cfc322c0e1047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bb0438152c483f" /><Relationship Type="http://schemas.openxmlformats.org/officeDocument/2006/relationships/notesMaster" Target="/ppt/notesMasters/notesMaster1.xml" Id="R1aa52b3174ab42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813bc3048b489e" /><Relationship Type="http://schemas.openxmlformats.org/officeDocument/2006/relationships/notesMaster" Target="/ppt/notesMasters/notesMaster1.xml" Id="R7eca19233b4e4e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af3a843c3c4a48" /><Relationship Type="http://schemas.openxmlformats.org/officeDocument/2006/relationships/notesMaster" Target="/ppt/notesMasters/notesMaster1.xml" Id="R7d1cf9addca844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48d80e258045b3" /><Relationship Type="http://schemas.openxmlformats.org/officeDocument/2006/relationships/notesMaster" Target="/ppt/notesMasters/notesMaster1.xml" Id="R7084d6931bca48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3b2a4cf3c50489c" /><Relationship Type="http://schemas.openxmlformats.org/officeDocument/2006/relationships/notesMaster" Target="/ppt/notesMasters/notesMaster1.xml" Id="R51eab195344d42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4a46fa14504e9c" /><Relationship Type="http://schemas.openxmlformats.org/officeDocument/2006/relationships/notesMaster" Target="/ppt/notesMasters/notesMaster1.xml" Id="R1494186c3cda49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b2581fd9947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071c3a88ad4a0c" /><Relationship Type="http://schemas.openxmlformats.org/officeDocument/2006/relationships/slideLayout" Target="/ppt/slideLayouts/slideLayout1.xml" Id="R713fcf2aaa4548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fcf2aaa4548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476066d0d4604" /><Relationship Type="http://schemas.openxmlformats.org/officeDocument/2006/relationships/notesSlide" Target="/ppt/notesSlides/notesSlide1.xml" Id="R4eacea9673ee48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317d07b89465e" /><Relationship Type="http://schemas.openxmlformats.org/officeDocument/2006/relationships/notesSlide" Target="/ppt/notesSlides/notesSlide2.xml" Id="R9201d1108e7346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c6ed2730943a7" /><Relationship Type="http://schemas.openxmlformats.org/officeDocument/2006/relationships/notesSlide" Target="/ppt/notesSlides/notesSlide3.xml" Id="R0e0b70710c2242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702b877db4725" /><Relationship Type="http://schemas.openxmlformats.org/officeDocument/2006/relationships/notesSlide" Target="/ppt/notesSlides/notesSlide4.xml" Id="R06f33d705f9948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44e5b287443da" /><Relationship Type="http://schemas.openxmlformats.org/officeDocument/2006/relationships/notesSlide" Target="/ppt/notesSlides/notesSlide5.xml" Id="R10328b8f2f1f42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8be3d988a4c9e" /><Relationship Type="http://schemas.openxmlformats.org/officeDocument/2006/relationships/notesSlide" Target="/ppt/notesSlides/notesSlide6.xml" Id="Rf81c0a7243d446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605767c1b4d50" /><Relationship Type="http://schemas.openxmlformats.org/officeDocument/2006/relationships/chart" Target="/ppt/slides/charts/chart1.xml" Id="R9312f4265698498e" /><Relationship Type="http://schemas.openxmlformats.org/officeDocument/2006/relationships/notesSlide" Target="/ppt/notesSlides/notesSlide7.xml" Id="R47966a39dfe549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05fe4f1c0487c" /><Relationship Type="http://schemas.openxmlformats.org/officeDocument/2006/relationships/chart" Target="/ppt/slides/charts/chart2.xml" Id="Rd0e1cb918dce4772" /><Relationship Type="http://schemas.openxmlformats.org/officeDocument/2006/relationships/chart" Target="/ppt/slides/charts/chart3.xml" Id="R90c2379fbd5b4679" /><Relationship Type="http://schemas.openxmlformats.org/officeDocument/2006/relationships/notesSlide" Target="/ppt/notesSlides/notesSlide8.xml" Id="R17b46ebe674642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3ae5d22da4d0d" /><Relationship Type="http://schemas.openxmlformats.org/officeDocument/2006/relationships/notesSlide" Target="/ppt/notesSlides/notesSlide9.xml" Id="R352dd675e1174c2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W1-W3 hit rate</c:v>
          </c:tx>
          <c:spPr>
            <a:solidFill xmlns:a="http://schemas.openxmlformats.org/drawingml/2006/main">
              <a:srgbClr val="000000"/>
            </a:solidFill>
          </c:spPr>
          <c:dLbls/>
          <c:cat>
            <c:strLit>
              <c:ptCount val="3"/>
              <c:pt idx="0">
                <c:v>W1</c:v>
              </c:pt>
              <c:pt idx="1">
                <c:v>W2</c:v>
              </c:pt>
              <c:pt idx="2">
                <c:v>W3</c:v>
              </c:pt>
            </c:strLit>
          </c:cat>
          <c:val>
            <c:numLit>
              <c:formatCode>General</c:formatCode>
              <c:ptCount val="3"/>
              <c:pt idx="0">
                <c:v>65.697</c:v>
              </c:pt>
              <c:pt idx="1">
                <c:v>5.088</c:v>
              </c:pt>
              <c:pt idx="2">
                <c:v>59.302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全局 hit rate</c:v>
          </c:tx>
          <c:spPr>
            <a:solidFill xmlns:a="http://schemas.openxmlformats.org/drawingml/2006/main">
              <a:srgbClr val="1F77B4"/>
            </a:solidFill>
          </c:spPr>
          <c:dLbls/>
          <c:cat>
            <c:strLit>
              <c:ptCount val="4"/>
              <c:pt idx="0">
                <c:v>LRU</c:v>
              </c:pt>
              <c:pt idx="1">
                <c:v>2Q</c:v>
              </c:pt>
              <c:pt idx="2">
                <c:v>SLRU</c:v>
              </c:pt>
              <c:pt idx="3">
                <c:v>LFU</c:v>
              </c:pt>
            </c:strLit>
          </c:cat>
          <c:val>
            <c:numLit>
              <c:formatCode>General</c:formatCode>
              <c:ptCount val="4"/>
              <c:pt idx="0">
                <c:v>22.205</c:v>
              </c:pt>
              <c:pt idx="1">
                <c:v>22.296</c:v>
              </c:pt>
              <c:pt idx="2">
                <c:v>22.296</c:v>
              </c:pt>
              <c:pt idx="3">
                <c:v>27.971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scan后hot回访 hit rate</c:v>
          </c:tx>
          <c:spPr>
            <a:solidFill xmlns:a="http://schemas.openxmlformats.org/drawingml/2006/main">
              <a:srgbClr val="FF6B35"/>
            </a:solidFill>
          </c:spPr>
          <c:dLbls/>
          <c:cat>
            <c:strLit>
              <c:ptCount val="4"/>
              <c:pt idx="0">
                <c:v>LRU</c:v>
              </c:pt>
              <c:pt idx="1">
                <c:v>2Q</c:v>
              </c:pt>
              <c:pt idx="2">
                <c:v>SLRU</c:v>
              </c:pt>
              <c:pt idx="3">
                <c:v>LFU</c:v>
              </c:pt>
            </c:strLit>
          </c:cat>
          <c:val>
            <c:numLit>
              <c:formatCode>General</c:formatCode>
              <c:ptCount val="4"/>
              <c:pt idx="0">
                <c:v>45.191</c:v>
              </c:pt>
              <c:pt idx="1">
                <c:v>45.403</c:v>
              </c:pt>
              <c:pt idx="2">
                <c:v>45.403</c:v>
              </c:pt>
              <c:pt idx="3">
                <c:v>58.696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DD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DDE108-5EB0-481B-8EC3-A80E8B1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SGLang KV Cache 淘汰策略实验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BEF1D-65A8-486A-ADCD-6AA3B3C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55555"/>
                </a:solidFill>
              </a:defRPr>
            </a:pPr>
            <a:r>
              <a:rPr sz="1725" b="0">
                <a:solidFill>
                  <a:srgbClr val="555555"/>
                </a:solidFill>
              </a:rPr>
              <a:t>从源码接入 2Q，到真实 GPU 服务验证，再到 raw 级别解释策略差异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413A7-8612-469F-9438-AECDA4A8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01587-B9B3-4EAA-B585-9CA20320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A82C5-7629-418A-AE69-32BE4E58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3143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775DC-B0BB-43F0-A379-3EE29275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真实系统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88934-CDD7-45E9-B665-AC475B28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SGLang 0.5.14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Qwen2.5-7B-Instruct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RTX 3090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9C8CD-BB6E-4863-926D-3412C729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</a:defRPr>
            </a:pPr>
            <a:r>
              <a:rPr sz="2025" b="1">
                <a:solidFill>
                  <a:srgbClr val="222222"/>
                </a:solidFill>
              </a:rPr>
              <a:t>代码贡献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6C8F3-81D8-4FC2-A9D5-719924A4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TwoQStrategy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RadixCache hooks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trace / replay / analyze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B50FAC-EF12-4402-9388-6D7234F0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290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关键结论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B4844D-6C15-48AD-AFA0-BBB7F683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862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2Q 与 SLRU 几乎持平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LFU 在稳定热点下更强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A39F9-54ED-4632-A11A-110C160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1</a:t>
            </a:r>
          </a:p>
        </p:txBody>
      </p:sp>
    </p:spTree>
    <p:extLst>
      <p:ext uri="{BB962C8B-B14F-4D97-AF65-F5344CB8AC3E}">
        <p14:creationId xmlns:p14="http://schemas.microsoft.com/office/powerpoint/2010/main" val="662886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FF46B3-991C-475C-98BE-09001B48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问题不是“能否缓存”，而是“显存满时保留谁”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33B24C-F1D5-43EA-BAA0-A6F75709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2F30C-CCB4-43B0-B954-F1DB3D5C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KV cache 命中会减少 prefill，直接影响 TTFT；淘汰策略决定热点前缀能否留下。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90084-B08A-41F9-8DD3-C982C6AE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1BF95-1914-4930-80B9-44B9A44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Prompt 前缀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ECC97-1E53-4A6D-85DB-77C30183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多个请求共享开头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34D3F3-85E9-4D76-966D-C259B15D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193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970E4-E244-45A1-A704-09B59D88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B525E-C5E3-433A-8D4D-D2E4BCAE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RadixCache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66FC2-E91E-45BF-919E-F2A7601E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用前缀树保存 KV 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70BC4-21FA-4FEF-A81A-A02493DC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4193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2CF16-6546-48EC-BBE3-E5F35C68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145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8DF44-DE48-4912-AAE4-1D9F4A76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35"/>
                </a:solidFill>
              </a:defRPr>
            </a:pPr>
            <a:r>
              <a:rPr sz="1875" b="1">
                <a:solidFill>
                  <a:srgbClr val="FF6B35"/>
                </a:solidFill>
              </a:rPr>
              <a:t>Eviction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90EF8-4E4E-47CD-B20B-5ADEA1B9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预算不足时选择 leaf 淘汰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2D8D32-08A8-4895-8DBE-86FF30B4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93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52136-B189-40D0-9577-1259EF63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14550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A13867-7158-4329-9AC3-5A62879C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0530D-CF61-42A4-A829-5FEE45FB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cached_tokens / hit_rate / TTFT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16F10D-2C9C-413D-AACC-BE84ABF3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7917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F8F8F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2EE4C-97BD-4415-812F-755AF04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本实验的验证对象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60C10A-6B8E-4CD4-A80B-1526685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将 2Q 接入 SGLang 的真实 RadixCache 淘汰路径，比较 LRU、SLRU、LFU 与 2Q 在扫描污染场景下的热点保护能力。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467B3-8A9C-4F1B-9A40-25A6397E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2</a:t>
            </a:r>
          </a:p>
        </p:txBody>
      </p:sp>
    </p:spTree>
    <p:extLst>
      <p:ext uri="{BB962C8B-B14F-4D97-AF65-F5344CB8AC3E}">
        <p14:creationId xmlns:p14="http://schemas.microsoft.com/office/powerpoint/2010/main" val="1404485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C6E124-1951-40CA-8800-B016978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代码工作集中在策略、接入、数据链路三层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39E38-00FA-4AE2-B24A-08CCB3CB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206DF-B98C-47FE-B6A4-A516186E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这页用来说明工程量：不是只改一个参数，而是把策略写入 SGLang 生命周期并建立可复现实验链路。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FE690-3BAC-4870-9CBA-09FB0F27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F6F6F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AA874-7942-4C7B-89E7-099D05F8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策略实现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523E7-85BA-4948-809B-B33ECCDF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95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vendor/sglang/srt/mem_cache/evict_policy.py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11C81-DDBE-477B-A57A-01A21B3B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新增 TwoQStrategy：A1in / A1out / Am 状态、优先级、ghost 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63DFC-917B-4079-8965-9DB0D49A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Radix 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27114-EBB4-4013-9D26-51EB12C3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62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vendor/sglang/srt/mem_cache/radix_cache.py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8B634-DA7F-401E-A28C-176B8366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在 insert / hit / split / evict 路径调用策略 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A2DC0-9DA9-44EA-AB90-A43AF125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F6F6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65820-58B6-4F95-A3A5-9AF2E858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</a:defRPr>
            </a:pPr>
            <a:r>
              <a:rPr sz="1425" b="1">
                <a:solidFill>
                  <a:srgbClr val="FF6B35"/>
                </a:solidFill>
              </a:rPr>
              <a:t>服务注册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70589-06A9-4659-AA6C-660AC76D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289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utils.py + server_args.py 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8F0AAF-40E2-4C1A-8CC1-F8501D7A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注册 2q factory 与 CLI choice，让真实服务可启动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BCF229-8975-4C45-856A-C61E4DD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95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数据回放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0D640-D5E0-4508-BE89-E508AE88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957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bench/replay.py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C0BAA-009A-4818-9F00-C11FEC7D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从 SGLang meta_info 提取 cached_tokens、hit_rate、TTFT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A47D7-3A2C-4BEA-858E-45617CBC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F6F6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92653B-85DE-4E5A-BCAA-063C021C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压力数据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F8BCB-DFAC-421A-9AF9-401DB54C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624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traces/generate_traces.py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DF9A33-3C56-4B33-ABFA-B46DC8C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62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生成 hot → scan → hot 的 W4 pressure 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46D05A-2831-43F8-8AE8-951ADA21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292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细粒度分析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9240A3-F510-4DB0-B12E-860EFC61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29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bench/analyze_scan_revisits.py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CC96D-0B46-418F-92B1-BF8B349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292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从 raw JSONL 拆 scan 后 32 条热点回访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622380-FB6E-4229-8FA3-80C56560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3</a:t>
            </a:r>
          </a:p>
        </p:txBody>
      </p:sp>
    </p:spTree>
    <p:extLst>
      <p:ext uri="{BB962C8B-B14F-4D97-AF65-F5344CB8AC3E}">
        <p14:creationId xmlns:p14="http://schemas.microsoft.com/office/powerpoint/2010/main" val="3703272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554266-521C-44C0-A419-EF9070A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TwoQStrategy 的核心是把命中信号转成队列状态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EF153-CAD1-4783-80D2-E4015284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14865-41E1-4441-8144-3A5EA0A8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当前实现是可运行的 2Q-like：有 A1in、A1out、Am，但还没有严格的队列容量配额。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08506-6755-47F5-8844-2CBD4D62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143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0FEBA-D47A-4450-9410-19C861D8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48006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def get_priority(node):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if segment == A1IN: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    return (0, queue_time, last_access)  # 先淘汰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if segment == AM: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    return (2, queue_time, last_access)  # 保护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return (1, creation_time, last_access)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def on_insert(node):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if fingerprint(node) in A1out: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    set_segment(node, AM)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else:</a:t>
            </a:r>
          </a:p>
          <a:p xmlns:a="http://schemas.openxmlformats.org/drawingml/2006/main">
            <a:pPr algn="l">
              <a:defRPr sz="1200" b="0">
                <a:solidFill>
                  <a:srgbClr val="F8FAFC"/>
                </a:solidFill>
              </a:defRPr>
            </a:pPr>
            <a:r>
              <a:rPr sz="1200" b="0">
                <a:solidFill>
                  <a:srgbClr val="F8FAFC"/>
                </a:solidFill>
              </a:rPr>
              <a:t>        set_segment(node, A1IN)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4242D-F2BE-453A-8024-D1298DD8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FCCAE-003F-45C1-A954-FD7DF2F0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669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A1in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056A4-68DF-4731-851D-21439B9C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478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新插入节点先试用，优先被淘汰，避免一次性 scan 长驻。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87EB9-1314-4362-8CB3-CBB06A40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13947-06B0-46AA-B28C-730C7801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A1out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960AF-C1C6-4A1F-8A6F-7263AE81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只保存被淘汰 A1in 的 fingerprint，用 ghost hit 识别“曾经见过”。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52CB9-C6CA-49A1-AAF3-DFDC242B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4095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6B112-438A-469E-B872-8CC74A6A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5E30C-DED7-4685-94DB-89412971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67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命中后进入保护队列，表示这个前缀已经证明有复用价值。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20391-4A2A-41B0-97E6-FACC35A0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关键限制：没有按比例限制 A1in/Am 大小，所以实际行为容易接近 SLRU。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4041C6-8C85-4464-A6F2-A3DCDEF2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4</a:t>
            </a:r>
          </a:p>
        </p:txBody>
      </p:sp>
    </p:spTree>
    <p:extLst>
      <p:ext uri="{BB962C8B-B14F-4D97-AF65-F5344CB8AC3E}">
        <p14:creationId xmlns:p14="http://schemas.microsoft.com/office/powerpoint/2010/main" val="4223366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7B0F3-44B5-4005-A20E-B213FF37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RadixCache 的生命周期 hook 让策略真正参与运行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333EA-470B-4DB1-96F2-64EE821E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945B9-EE05-4351-AA7D-874B744E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2Q 必须跟随前缀树节点的创建、命中、拆分和删除，否则只能停留在离线模拟。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0DFEF-2178-41E2-8DA0-ADCE6B98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859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C74FD-74F7-4BB3-ACA8-F4BE280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_insert_helper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F3C9F2-2783-493F-AD5C-C9B9E9EF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on_insert(new_node)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373C4-8B27-4433-B1E0-6CD48DF6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8595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68069-BBAE-4A8E-9899-40CB7898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14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_match_prefix_helper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98963-E4EE-4C14-9897-77308016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14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on_hit(node / child)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1389A-5C99-4F54-8AD3-0649A037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9533C0-93D1-440C-8CE7-40F9A763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_split_node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2536-29D0-4164-89B8-3F9B9DF0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on_split(new_node, child)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E8081-8526-45E6-A859-4680AC7D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00500"/>
            <a:ext cx="3429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1EBCA5-972B-4B42-B66A-FFC2E09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29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_delete_leaf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8C371-5BC0-461A-8ECC-751F2BAF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on_evict(node)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70AA08-5471-4D66-8848-EC410E56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95600"/>
            <a:ext cx="175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4DF75-D11F-4B47-B6CD-44903261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102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TwoQ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state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3F8306-40FD-4DC5-BF2C-09C68443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状态变化不只发生在 leaf 插入，也发生在 prefix 命中和节点 split。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DB66ED-1311-44A6-94F0-6467C149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5</a:t>
            </a:r>
          </a:p>
        </p:txBody>
      </p:sp>
    </p:spTree>
    <p:extLst>
      <p:ext uri="{BB962C8B-B14F-4D97-AF65-F5344CB8AC3E}">
        <p14:creationId xmlns:p14="http://schemas.microsoft.com/office/powerpoint/2010/main" val="632423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38DFEB-8DC3-4DF5-9B14-65E2B2EB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实验链路把服务输出保存到可解释的 raw JSONL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1951A-8964-434C-9A4C-5A7E7E6C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EAD06-8747-4AAF-ACF7-48BCEC35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全局 summary 不够，scan 后热点回访必须从 raw 行里拆出来看。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80C16-3F60-46B4-979C-D21B719D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5C9E9-63F1-4CF7-B4DE-AD10E87C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E34D4-7CCE-4FE4-A5E7-2D6EB791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52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generate_traces.py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W1-W4 /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266DF-630D-43D6-862A-718F5336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F07E86-A030-4659-8C55-73692F94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812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335D1-1E67-4B51-94B5-B7D88878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D69B7-2447-44DB-8BB5-0F3FACD6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52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sglang serve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--radix-eviction-policy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F9096-FCBC-49FF-A1F6-27D8C547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639FD-BBC8-4908-9BF9-7C9AD1B3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812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1EA9E-72E1-41C8-A3A9-5299E5E5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7565F-BD6E-4316-A08B-8819F76F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bench/replay.py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/generate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2594C-555E-48A2-9B6A-745816C5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F7339-F76B-4E65-A98B-111BD81C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A50CE-E02A-4E6C-ADB6-545CC87A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raw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C7BF7D-0290-4685-B365-5ACC4F77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raw JSONL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每请求指标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D904D-A2CA-4BFC-A83F-B14279FC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43150"/>
            <a:ext cx="32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BE3CF6-B0AB-4B80-B0FB-35ACF706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81200"/>
            <a:ext cx="1714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B4E0B-B76F-430B-A3DB-37DF648F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4051B8-86EC-4759-B38E-1EE1AFF6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527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summary CSV</a:t>
            </a:r>
          </a:p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scan-revisit CSV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49D65-0F65-49A1-8556-313B859D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5250"/>
            <a:ext cx="8096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1E29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8228F-47C9-4193-83E5-FCEC1C56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57650"/>
            <a:ext cx="7753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raw row fields: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  request_id      w4-scan-* / w4-hot-*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  prompt_tokens   server reported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  cached_tokens   KV cache hit tokens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  hit_rate        cached_tokens / prompt_tokens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  ttft_ms         time to first token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6A7FA-A3E2-4BBA-AAF1-AB9B8892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6</a:t>
            </a:r>
          </a:p>
        </p:txBody>
      </p:sp>
    </p:spTree>
    <p:extLst>
      <p:ext uri="{BB962C8B-B14F-4D97-AF65-F5344CB8AC3E}">
        <p14:creationId xmlns:p14="http://schemas.microsoft.com/office/powerpoint/2010/main" val="1772806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C1C6CB-CA7B-4776-9173-77DC5479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W1-W3 验证链路，W4 pressure 才制造淘汰压力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BA893-7D72-4FC8-937B-D1E79F36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D030A-75FF-480B-A608-75F7D258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这也是为什么只看普通 summary 会觉得策略几乎没有差异。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4572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12f4265698498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08D8A-2F33-4A15-AB20-3384A32C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33550"/>
            <a:ext cx="409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116B2-131C-4C9C-AE33-D4450354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24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W1 few-shot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8A94E-A2BA-432F-8E08-8A32CE5D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公共 prompt 前缀复用，三策略结果一致。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866C7-EA4C-463F-A2A6-DF8FB132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409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D7C1F-0490-430C-9609-20DD7F6A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86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W2 multi-turn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3FC4A-FA9A-4F3F-886C-11A22FF8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29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长上下文主导延迟，hit rate 低且策略差异不明显。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C8CCB-C2E9-4DA2-B702-71A1D9AB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57650"/>
            <a:ext cx="4095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6E125-65BE-44DE-8A33-B2EAE01E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W4 pressure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032BC-12B0-428C-B80C-F9D117FD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hot → scan → hot，专门观察扫描污染后热点是否保留。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24C68-A92D-4BD4-A27E-9E5C769B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W1-W3 hit rate 三策略相同，图中取共同值。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D8095-2F9C-4AA4-945B-470874C8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7</a:t>
            </a:r>
          </a:p>
        </p:txBody>
      </p:sp>
    </p:spTree>
    <p:extLst>
      <p:ext uri="{BB962C8B-B14F-4D97-AF65-F5344CB8AC3E}">
        <p14:creationId xmlns:p14="http://schemas.microsoft.com/office/powerpoint/2010/main" val="16661211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A1E85D-5022-464C-A062-69781440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raw 级别分析显示 2Q 的效果接近 SLRU，而 LFU 更适合稳定热点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44DD4-C16E-47DE-8D14-3F15F15F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8F2B7-960C-4B61-A595-AE480BAA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这里比较 scan 后 32 条热点回访，避免全局平均值把关键现象冲淡。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481012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e1cb918dce4772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191250" y="1714500"/>
          <a:ext xmlns:a="http://schemas.openxmlformats.org/drawingml/2006/main" cx="4810125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c2379fbd5b4679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CBB97-FC04-4B4B-852F-58AA5606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全局 W4 pressure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CC3D5-F728-48D5-89A7-DC368633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05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scan 后 32 条热点回访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CD368E-A091-40B1-81A8-80F4DD7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+0.09pp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7B6A2-9127-44AD-8167-E833E081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2Q 相对 LRU 的全局 hit rate 提升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06603-130A-49AA-B547-9A5F847C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3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58.70%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DA832-303E-4AC0-9667-B8AC3301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886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LFU 的 scan 后热点回访 hit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CEECC-76DD-44BA-AB48-6EA5CF3B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2Q≈SLRU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B8104-AED2-431F-A9E9-C92E9D88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864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两者 cached_tokens 完全相同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5C716-1D04-41E2-A61B-F0DB4196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8</a:t>
            </a:r>
          </a:p>
        </p:txBody>
      </p:sp>
    </p:spTree>
    <p:extLst>
      <p:ext uri="{BB962C8B-B14F-4D97-AF65-F5344CB8AC3E}">
        <p14:creationId xmlns:p14="http://schemas.microsoft.com/office/powerpoint/2010/main" val="8861810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37DD3-5791-46BB-82BE-CBF5D03B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最终结论：完成真实接入，也识别出当前 2Q 的边界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955BA-8412-4FBF-BA3C-0024B568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21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DD654-BE61-4FF8-927A-F7C5818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这个结论比单纯宣称 2Q 更优更可信，也更能体现实验价值。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28E5-B35E-4CAD-981A-8A0EF6CC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686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7A747-5B25-46CD-883E-B12E81A0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已经完成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72849-F6C3-4CEE-A4B1-570B41C3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2Q 策略源码实现、SGLang CLI 注册、GPU 服务运行、trace/replay/analysis 链路。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1BAEE-1CBF-4699-8469-56DF480F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4686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E"/>
          </a:solidFill>
          <a:ln xmlns:a="http://schemas.openxmlformats.org/drawingml/2006/main" w="9525">
            <a:solidFill>
              <a:srgbClr val="FFF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5E6E0-28A7-4B26-9597-FC049718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B35"/>
                </a:solidFill>
              </a:defRPr>
            </a:pPr>
            <a:r>
              <a:rPr sz="1950" b="1">
                <a:solidFill>
                  <a:srgbClr val="FF6B35"/>
                </a:solidFill>
              </a:rPr>
              <a:t>实验发现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425A4-AA64-460C-BD8B-0572431E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2Q 在 W4 pressure 中略优于 LRU，但与 SLRU 几乎一致；LFU 在稳定热点下最强。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BF0BC-15F7-4C3D-AF97-D9B8B66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686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62DC8-6F51-4002-A52F-ABC3D47A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原因解释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6373B-1899-4166-B69B-E99D9230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当前 2Q 缺少 A1in/Am 硬容量配额，主要依靠优先级排序，因此表现为 SLRU-like。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BA9D5-BC89-4B08-8DF1-11DA5BAE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46863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DDBB8B-9859-4757-A851-769165E8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可改进方向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BBB16-0B2F-4733-AA9E-56C193A0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加入严格队列预算、统计 ghost hit、设计热点阶段变化 workload，进一步区分 2Q 与 LFU。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77C20-9359-466C-8B9C-8F53A94A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简历关键词：真实系统源码改造、KV cache eviction、可复现实验框架、raw 日志细粒度分析。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976C3-9F05-47FA-8170-3E582C7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SGLang KV Cache 2Q 实验 · 9</a:t>
            </a:r>
          </a:p>
        </p:txBody>
      </p:sp>
    </p:spTree>
    <p:extLst>
      <p:ext uri="{BB962C8B-B14F-4D97-AF65-F5344CB8AC3E}">
        <p14:creationId xmlns:p14="http://schemas.microsoft.com/office/powerpoint/2010/main" val="441010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2026-07-10T05:39:14.8680000Z</dcterms:created>
  <dcterms:modified xsi:type="dcterms:W3CDTF">2026-07-10T05:39:14.8680000Z</dcterms:modified>
</coreProperties>
</file>